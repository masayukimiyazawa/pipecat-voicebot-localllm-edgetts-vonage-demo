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DETAILED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Pipecat Voice Bot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Detailed Architecture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8D2DC"/>
                </a:solidFill>
                <a:latin typeface="Yu Gothic"/>
                <a:ea typeface="Yu Gothic"/>
                <a:cs typeface="Yu Gothic"/>
              </a:rPr>
              <a:t>LM Studio (Local LLM/STT) × Edge TTS × Vonage × Pipecat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566160"/>
            <a:ext cx="3291840" cy="1371600"/>
          </a:xfrm>
          <a:prstGeom prst="roundRect">
            <a:avLst/>
          </a:prstGeom>
          <a:solidFill>
            <a:srgbClr val="23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70332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Fully Local Inference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11480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LM Studio + mlx-whisper</a:t>
            </a:r>
            <a:br/>
            <a:r>
              <a:rPr sz="1100" b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Zero API cost, low latency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3566160"/>
            <a:ext cx="3291840" cy="1371600"/>
          </a:xfrm>
          <a:prstGeom prst="roundRect">
            <a:avLst/>
          </a:prstGeom>
          <a:solidFill>
            <a:srgbClr val="23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370332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Natural Japanese speech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411480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Edge TTS NanamiNeural</a:t>
            </a:r>
            <a:br/>
            <a:r>
              <a:rPr sz="1100" b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PyAV decode + resample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3566160"/>
            <a:ext cx="3291840" cy="1371600"/>
          </a:xfrm>
          <a:prstGeom prst="roundRect">
            <a:avLst/>
          </a:prstGeom>
          <a:solidFill>
            <a:srgbClr val="23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370332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Phone / browser 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411480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Voice API + Video API</a:t>
            </a:r>
            <a:br/>
            <a:r>
              <a:rPr sz="1100" b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Audio Connector / WebSocket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257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9BAD"/>
                </a:solidFill>
                <a:latin typeface="Yu Gothic"/>
                <a:ea typeface="Yu Gothic"/>
                <a:cs typeface="Yu Gothic"/>
              </a:rPr>
              <a:t>Target code: server.py / bot.py / tts_edge.py / static/index.html / start.sh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6235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9BAD"/>
                </a:solidFill>
                <a:latin typeface="Yu Gothic"/>
                <a:ea typeface="Yu Gothic"/>
                <a:cs typeface="Yu Gothic"/>
              </a:rPr>
              <a:t>Output: ./doc / 2026-09-11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539496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▶ STT → LLM → TTS</a:t>
            </a:r>
            <a:br/>
            <a:r>
              <a:rPr sz="13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    In-depth pipeline walkthrough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73152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530352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2DC"/>
                </a:solidFill>
                <a:latin typeface="Yu Gothic"/>
                <a:ea typeface="Yu Gothic"/>
                <a:cs typeface="Yu Gothic"/>
              </a:rPr>
              <a:t>Deck structure — 16 pages total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3200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A9BAD"/>
                </a:solidFill>
                <a:latin typeface="Yu Gothic"/>
                <a:ea typeface="Yu Gothic"/>
                <a:cs typeface="Yu Gothic"/>
              </a:rPr>
              <a:t>Pipecat VoiceBot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A6C7D"/>
                </a:solidFill>
                <a:latin typeface="Yu Gothic"/>
                <a:ea typeface="Yu Gothic"/>
                <a:cs typeface="Yu Gothic"/>
              </a:rPr>
              <a:t>Based on pipecat-voicebot-localllm-edgetts-vonage-demo / bot.py, server.py, tts_edge.py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▪ 02  System overview: </a:t>
            </a:r>
            <a:r>
              <a:rPr sz="120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Purpose, two usage modes, overall picture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▪ 03  Overall architecture diagram: </a:t>
            </a:r>
            <a:r>
              <a:rPr sz="120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How Cloudflare / Vonage / FastAPI / Pipecat / LM Studio relate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▪ 04  Tech stack: </a:t>
            </a:r>
            <a:r>
              <a:rPr sz="120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Python 3.11+, Pipecat 1.4, FastAPI, Vonage SDK, edge-tts, PyAV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▪ 05  Repository structure: </a:t>
            </a:r>
            <a:r>
              <a:rPr sz="120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Division of roles among key files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▪ 06  server.py: API design: </a:t>
            </a:r>
            <a:r>
              <a:rPr sz="120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6 endpoints &amp; Audio Connector management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▪ 07  bot.py: pipeline: </a:t>
            </a:r>
            <a:r>
              <a:rPr sz="120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7-stage STT→VAD→LLM→TTS structure and parameters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▪ 08  tts_edge.py: speech synthesis: </a:t>
            </a:r>
            <a:r>
              <a:rPr sz="120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Conversion flow: MP3 → PCM → resample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▪ 09  Audio data flow: </a:t>
            </a:r>
            <a:r>
              <a:rPr sz="120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16 kHz / 24 kHz, chunks, serializer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32588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▪ 10  Sequence: video demo: </a:t>
            </a:r>
            <a:r>
              <a:rPr sz="120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6 steps through browser → Video Session → /ws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▪ 11  Sequence: phone mode: </a:t>
            </a:r>
            <a:r>
              <a:rPr sz="120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Voice API → NCCO → WebSocket bridge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▪ 12  Startup &amp; operations: </a:t>
            </a:r>
            <a:r>
              <a:rPr sz="120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start.sh, tunnel, LM Studio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▪ 13  Tips &amp; pitfalls: </a:t>
            </a:r>
            <a:r>
              <a:rPr sz="120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Monkey-patch, keepalive, Connector leak prevention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▪ 14  Security &amp; improvements: </a:t>
            </a:r>
            <a:r>
              <a:rPr sz="120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Key management, robustness, extension ideas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▪ 15  Summary: </a:t>
            </a:r>
            <a:r>
              <a:rPr sz="120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Three key points and next actions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73152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System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530352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2DC"/>
                </a:solidFill>
                <a:latin typeface="Yu Gothic"/>
                <a:ea typeface="Yu Gothic"/>
                <a:cs typeface="Yu Gothic"/>
              </a:rPr>
              <a:t>A Japanese-speaking voicebot on a local LLM — two paths: phone and browser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3200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A9BAD"/>
                </a:solidFill>
                <a:latin typeface="Yu Gothic"/>
                <a:ea typeface="Yu Gothic"/>
                <a:cs typeface="Yu Gothic"/>
              </a:rPr>
              <a:t>Pipecat VoiceBot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A6C7D"/>
                </a:solidFill>
                <a:latin typeface="Yu Gothic"/>
                <a:ea typeface="Yu Gothic"/>
                <a:cs typeface="Yu Gothic"/>
              </a:rPr>
              <a:t>Based on pipecat-voicebot-localllm-edgetts-vonage-demo / bot.py, server.py, tts_edge.py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35204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9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444752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Purpose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828800"/>
            <a:ext cx="3246120" cy="1554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Converse with the local LLM on LM Studio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Natural conversation with Japanese STT/TTS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No external LLM API; privacy preserved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371600"/>
            <a:ext cx="35204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B7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444752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Video Demo Mode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828800"/>
            <a:ext cx="3246120" cy="1554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Browser → Vonage Video Session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Audio Connector → /ws → Bot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Publish mic / subscribe audio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371600"/>
            <a:ext cx="35204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80" y="1444752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Phone Mode (Voice API)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80" y="1828800"/>
            <a:ext cx="3246120" cy="1554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Phone → Answer Webhook /voice/webhook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WebSocket connection to /ws via NCCO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Bidirectional audio/l16;rate=16000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7033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Common core: FastAPI (:8005) + Pipecat Pipeline (STT → LLM → TTS) + auto greeting after 10 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206240"/>
            <a:ext cx="5486400" cy="2011680"/>
          </a:xfrm>
          <a:prstGeom prst="roundRect">
            <a:avLst/>
          </a:prstGeom>
          <a:solidFill>
            <a:srgbClr val="E0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27939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Input → output flow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663440"/>
            <a:ext cx="5212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User speech → Silero VAD detects segments → Whisper STT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LLM (LM Studio) replies in 2–3 Japanese sentences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Edge TTS (NanamiNeural) synthesizes and sends back speech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206240"/>
            <a:ext cx="5394960" cy="2011680"/>
          </a:xfrm>
          <a:prstGeom prst="roundRect">
            <a:avLst/>
          </a:prstGeom>
          <a:solidFill>
            <a:srgbClr val="FD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427939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Exposing it publicly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46634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Expose localhost:8005 via Cloudflare Tunnel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Set the tunnel URL in the browser and in Vonage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One command to launch: bash start.sh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73152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Overall Architecture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530352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2DC"/>
                </a:solidFill>
                <a:latin typeface="Yu Gothic"/>
                <a:ea typeface="Yu Gothic"/>
                <a:cs typeface="Yu Gothic"/>
              </a:rPr>
              <a:t>4-layer structure: client layer → Vonage Cloud → server layer → AI inference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3200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A9BAD"/>
                </a:solidFill>
                <a:latin typeface="Yu Gothic"/>
                <a:ea typeface="Yu Gothic"/>
                <a:cs typeface="Yu Gothic"/>
              </a:rPr>
              <a:t>Pipecat VoiceBot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A6C7D"/>
                </a:solidFill>
                <a:latin typeface="Yu Gothic"/>
                <a:ea typeface="Yu Gothic"/>
                <a:cs typeface="Yu Gothic"/>
              </a:rPr>
              <a:t>Based on pipecat-voicebot-localllm-edgetts-vonage-demo / bot.py, server.py, tts_edge.py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371600"/>
            <a:ext cx="2286000" cy="4846320"/>
          </a:xfrm>
          <a:prstGeom prst="roundRect">
            <a:avLst/>
          </a:prstGeom>
          <a:solidFill>
            <a:srgbClr val="E6F0FD"/>
          </a:solidFill>
          <a:ln w="1905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Client Layer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965960"/>
            <a:ext cx="201168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5A6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011679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Browser</a:t>
            </a:r>
            <a:br/>
            <a:r>
              <a:rPr sz="9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index.html</a:t>
            </a:r>
            <a:br/>
            <a:r>
              <a:rPr sz="9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OT.js SDK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926080"/>
            <a:ext cx="201168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5A6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97180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Phone</a:t>
            </a:r>
            <a:br/>
            <a:r>
              <a:rPr sz="9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PSTN / SIP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26080" y="1371600"/>
            <a:ext cx="2468880" cy="4846320"/>
          </a:xfrm>
          <a:prstGeom prst="roundRect">
            <a:avLst/>
          </a:prstGeom>
          <a:solidFill>
            <a:srgbClr val="FDEFE2"/>
          </a:solidFill>
          <a:ln w="1905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17520" y="14630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Vonage Cloud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63240" y="1965960"/>
            <a:ext cx="219456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5A6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08960" y="2011679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Video API</a:t>
            </a:r>
            <a:br/>
            <a:r>
              <a:rPr sz="9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Session management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063240" y="2926080"/>
            <a:ext cx="219456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5A6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08960" y="2971800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Audio Connector</a:t>
            </a:r>
            <a:br/>
            <a:r>
              <a:rPr sz="9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Bidirectional WS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63240" y="3886200"/>
            <a:ext cx="219456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5A6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08960" y="3931920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Voice API</a:t>
            </a:r>
            <a:br/>
            <a:r>
              <a:rPr sz="9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NCCO responses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0" y="1371600"/>
            <a:ext cx="301752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60720" y="1463040"/>
            <a:ext cx="2834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Server layer :8005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06440" y="1965960"/>
            <a:ext cx="274320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5A6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52160" y="2011679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Cloudflared Tunnel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06440" y="2606039"/>
            <a:ext cx="274320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5A6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52160" y="2651759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FastAPI server.py</a:t>
            </a:r>
            <a:br/>
            <a:r>
              <a:rPr sz="9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/ws, /demo/connect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06440" y="3566159"/>
            <a:ext cx="274320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5A6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52160" y="3611879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Pipecat bot.py</a:t>
            </a:r>
            <a:br/>
            <a:r>
              <a:rPr sz="9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STT→LLM→TTS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61120" y="1371600"/>
            <a:ext cx="2286000" cy="4846320"/>
          </a:xfrm>
          <a:prstGeom prst="roundRect">
            <a:avLst/>
          </a:prstGeom>
          <a:solidFill>
            <a:srgbClr val="E0F5F1"/>
          </a:solidFill>
          <a:ln w="1905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52560" y="14630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AI Inference Layer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98280" y="1965960"/>
            <a:ext cx="201168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5A6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0" y="2011679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LM Studio :1234</a:t>
            </a:r>
            <a:br/>
            <a:r>
              <a:rPr sz="9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LLM (e.g., gemma)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98280" y="2926080"/>
            <a:ext cx="201168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5A6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0" y="297180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mlx-whisper</a:t>
            </a:r>
            <a:br/>
            <a:r>
              <a:rPr sz="9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STT Japanese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098280" y="3886200"/>
            <a:ext cx="201168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5A6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0" y="393192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Edge TTS Cloud</a:t>
            </a:r>
            <a:br/>
            <a:r>
              <a:rPr sz="9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NanamiNeural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2697480" y="3657600"/>
            <a:ext cx="201168" cy="274320"/>
          </a:xfrm>
          <a:prstGeom prst="rightArrow">
            <a:avLst/>
          </a:prstGeom>
          <a:solidFill>
            <a:srgbClr val="0E9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ight Arrow 38"/>
          <p:cNvSpPr/>
          <p:nvPr/>
        </p:nvSpPr>
        <p:spPr>
          <a:xfrm>
            <a:off x="5440680" y="3657600"/>
            <a:ext cx="201168" cy="274320"/>
          </a:xfrm>
          <a:prstGeom prst="rightArrow">
            <a:avLst/>
          </a:prstGeom>
          <a:solidFill>
            <a:srgbClr val="0E9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ight Arrow 39"/>
          <p:cNvSpPr/>
          <p:nvPr/>
        </p:nvSpPr>
        <p:spPr>
          <a:xfrm>
            <a:off x="8732520" y="3657600"/>
            <a:ext cx="201168" cy="274320"/>
          </a:xfrm>
          <a:prstGeom prst="rightArrow">
            <a:avLst/>
          </a:prstGeom>
          <a:solidFill>
            <a:srgbClr val="0E9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73152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Tech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530352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2DC"/>
                </a:solidFill>
                <a:latin typeface="Yu Gothic"/>
                <a:ea typeface="Yu Gothic"/>
                <a:cs typeface="Yu Gothic"/>
              </a:rPr>
              <a:t>Dependencies in pyproject.toml and each technology's role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3200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A9BAD"/>
                </a:solidFill>
                <a:latin typeface="Yu Gothic"/>
                <a:ea typeface="Yu Gothic"/>
                <a:cs typeface="Yu Gothic"/>
              </a:rPr>
              <a:t>Pipecat VoiceBot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A6C7D"/>
                </a:solidFill>
                <a:latin typeface="Yu Gothic"/>
                <a:ea typeface="Yu Gothic"/>
                <a:cs typeface="Yu Gothic"/>
              </a:rPr>
              <a:t>Based on pipecat-voicebot-localllm-edgetts-vonage-demo / bot.py, server.py, tts_edge.py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3520440" cy="2148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9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371600"/>
            <a:ext cx="3520440" cy="502920"/>
          </a:xfrm>
          <a:prstGeom prst="roundRect">
            <a:avLst/>
          </a:prstGeom>
          <a:solidFill>
            <a:srgbClr val="0E9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444752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Pipecat-AI 1.4+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57400"/>
            <a:ext cx="32004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Pipeline, Transport, and the STT/LLM/TTS foundation. Uses the kokoro, mlx-whisper, openai, silero, and websocket extensions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371600"/>
            <a:ext cx="3520440" cy="2148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B7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51960" y="1371600"/>
            <a:ext cx="3520440" cy="502920"/>
          </a:xfrm>
          <a:prstGeom prst="roundRect">
            <a:avLst/>
          </a:prstGeom>
          <a:solidFill>
            <a:srgbClr val="2B7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444752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FastAPI + Uvicorn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057400"/>
            <a:ext cx="32004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HTTP/WebSocket server. Serves /ws, /demo/connect, /voice/webhook. All origins allowed in CORS (for demo)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371600"/>
            <a:ext cx="3520440" cy="2148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46720" y="1371600"/>
            <a:ext cx="3520440" cy="502920"/>
          </a:xfrm>
          <a:prstGeom prst="round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80" y="1444752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Vonage SDK / Video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057400"/>
            <a:ext cx="32004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vonage and vonage-video. Handles Session creation, JWT issuance, and Audio Connector start/stop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840480"/>
            <a:ext cx="3520440" cy="2148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57200" y="3840480"/>
            <a:ext cx="3520440" cy="50292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3913632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LM Studio (OpenAI-compatible)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526280"/>
            <a:ext cx="32004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Local LLM. OpenAILLMService connects to base_url=:1234/v1; api_key is a dummy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51960" y="3840480"/>
            <a:ext cx="3520440" cy="2148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9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251960" y="3840480"/>
            <a:ext cx="3520440" cy="502920"/>
          </a:xfrm>
          <a:prstGeom prst="roundRect">
            <a:avLst/>
          </a:prstGeom>
          <a:solidFill>
            <a:srgbClr val="0E9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0" y="3913632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mlx-whisper STT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4526280"/>
            <a:ext cx="32004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WhisperSTTServiceMLX. Fast Japanese recognition with LARGE_V3_TURBO_Q4, ja, no_speech_prob=0.3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20" y="3840480"/>
            <a:ext cx="3520440" cy="2148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B7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046720" y="3840480"/>
            <a:ext cx="3520440" cy="502920"/>
          </a:xfrm>
          <a:prstGeom prst="roundRect">
            <a:avLst/>
          </a:prstGeom>
          <a:solidFill>
            <a:srgbClr val="2B7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83880" y="3913632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Edge TTS + PyAV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4526280"/>
            <a:ext cx="32004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Get MP3 via edge-tts → PyAV decode → numpy mono conversion → resample. NanamiNeural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35508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A6C7D"/>
                </a:solidFill>
                <a:latin typeface="Yu Gothic"/>
                <a:ea typeface="Yu Gothic"/>
                <a:cs typeface="Yu Gothic"/>
              </a:rPr>
              <a:t>Requirements: Python 3.11+ / uv / macOS (MLX) recommended / cloudflared / load LLM+Whisper in LM Studio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73152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Repository Structure and Key 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530352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2DC"/>
                </a:solidFill>
                <a:latin typeface="Yu Gothic"/>
                <a:ea typeface="Yu Gothic"/>
                <a:cs typeface="Yu Gothic"/>
              </a:rPr>
              <a:t>Separation of concerns: connection management (server.py) × conversation control (bot.py) × speech synthesis (tts_edge.py)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3200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A9BAD"/>
                </a:solidFill>
                <a:latin typeface="Yu Gothic"/>
                <a:ea typeface="Yu Gothic"/>
                <a:cs typeface="Yu Gothic"/>
              </a:rPr>
              <a:t>Pipecat VoiceBot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A6C7D"/>
                </a:solidFill>
                <a:latin typeface="Yu Gothic"/>
                <a:ea typeface="Yu Gothic"/>
                <a:cs typeface="Yu Gothic"/>
              </a:rPr>
              <a:t>Based on pipecat-voicebot-localllm-edgetts-vonage-demo / bot.py, server.py, tts_edge.py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3520440" cy="2103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B7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B7DE5"/>
                </a:solidFill>
                <a:latin typeface="Yu Gothic"/>
                <a:ea typeface="Yu Gothic"/>
                <a:cs typeface="Yu Gothic"/>
              </a:rPr>
              <a:t>server.py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2024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C7D"/>
                </a:solidFill>
                <a:latin typeface="Yu Gothic"/>
                <a:ea typeface="Yu Gothic"/>
                <a:cs typeface="Yu Gothic"/>
              </a:rPr>
              <a:t>~313 lines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86000"/>
            <a:ext cx="3154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FastAPI core. WS intake, Vonage integration, NCCO responses, keepalive, cleanup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371600"/>
            <a:ext cx="3520440" cy="2103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9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50876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E9B8B"/>
                </a:solidFill>
                <a:latin typeface="Yu Gothic"/>
                <a:ea typeface="Yu Gothic"/>
                <a:cs typeface="Yu Gothic"/>
              </a:rPr>
              <a:t>bot.py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192024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C7D"/>
                </a:solidFill>
                <a:latin typeface="Yu Gothic"/>
                <a:ea typeface="Yu Gothic"/>
                <a:cs typeface="Yu Gothic"/>
              </a:rPr>
              <a:t>~162 lines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286000"/>
            <a:ext cx="3154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Pipecat definition. STT/LLM/TTS, VAD, Monkey-patch, 10 s greeting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371600"/>
            <a:ext cx="3520440" cy="2103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50876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tts_edge.py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192024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C7D"/>
                </a:solidFill>
                <a:latin typeface="Yu Gothic"/>
                <a:ea typeface="Yu Gothic"/>
                <a:cs typeface="Yu Gothic"/>
              </a:rPr>
              <a:t>~118 lines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286000"/>
            <a:ext cx="3154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EdgeTTSService. Buffering aggregation, MP3→PCM conversion, resample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794760"/>
            <a:ext cx="3520440" cy="2103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93192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static/index.html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34340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3154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OT.js frontend. connect/publish/subscribe and log display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51960" y="3794760"/>
            <a:ext cx="3520440" cy="2103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A6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34840" y="393192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A6C7D"/>
                </a:solidFill>
                <a:latin typeface="Yu Gothic"/>
                <a:ea typeface="Yu Gothic"/>
                <a:cs typeface="Yu Gothic"/>
              </a:rPr>
              <a:t>start.sh / setup.sh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434340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</p:txBody>
      </p:sp>
      <p:sp>
        <p:nvSpPr>
          <p:cNvPr id="27" name="TextBox 26"/>
          <p:cNvSpPr txBox="1"/>
          <p:nvPr/>
        </p:nvSpPr>
        <p:spPr>
          <a:xfrm>
            <a:off x="4434840" y="4709160"/>
            <a:ext cx="3154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Startup automation. Tunnel URL extraction, :8005 restart, health polling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20" y="3794760"/>
            <a:ext cx="3520440" cy="2103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A6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0" y="393192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A6C7D"/>
                </a:solidFill>
                <a:latin typeface="Yu Gothic"/>
                <a:ea typeface="Yu Gothic"/>
                <a:cs typeface="Yu Gothic"/>
              </a:rPr>
              <a:t>.env / private.key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434340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</p:txBody>
      </p:sp>
      <p:sp>
        <p:nvSpPr>
          <p:cNvPr id="31" name="TextBox 30"/>
          <p:cNvSpPr txBox="1"/>
          <p:nvPr/>
        </p:nvSpPr>
        <p:spPr>
          <a:xfrm>
            <a:off x="8229600" y="4709160"/>
            <a:ext cx="3154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Credentials. APP_ID, private key, LM_MODEL, AUDIO_RATE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73152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server.py — API Endpoint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530352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2DC"/>
                </a:solidFill>
                <a:latin typeface="Yu Gothic"/>
                <a:ea typeface="Yu Gothic"/>
                <a:cs typeface="Yu Gothic"/>
              </a:rPr>
              <a:t>FastAPI on :8005. Creates a fresh Transport per connection to prevent state leakage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3200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A9BAD"/>
                </a:solidFill>
                <a:latin typeface="Yu Gothic"/>
                <a:ea typeface="Yu Gothic"/>
                <a:cs typeface="Yu Gothic"/>
              </a:rPr>
              <a:t>Pipecat VoiceBot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A6C7D"/>
                </a:solidFill>
                <a:latin typeface="Yu Gothic"/>
                <a:ea typeface="Yu Gothic"/>
                <a:cs typeface="Yu Gothic"/>
              </a:rPr>
              <a:t>Based on pipecat-voicebot-localllm-edgetts-vonage-demo / bot.py, server.py, tts_edge.py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5669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▪ GET /, /health, /static: </a:t>
            </a:r>
            <a:r>
              <a:rPr sz="110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Frontend delivery and health checks. / returns index.html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▪ WS /ws: </a:t>
            </a:r>
            <a:r>
              <a:rPr sz="110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The bot itself. VonageSerializer + Transport creation → bot() start → keepalive (10 s) → cleanup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▪ POST /demo/connect: </a:t>
            </a:r>
            <a:r>
              <a:rPr sz="110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One-click demo. Session creation → Connector start → token return. Auto-detects WS_URI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▪ POST /connect: </a:t>
            </a:r>
            <a:r>
              <a:rPr sz="110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Legacy path. WS_URI required. Session creation + Connector start only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▪ GET/POST /voice/webhook: </a:t>
            </a:r>
            <a:r>
              <a:rPr sz="110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For phone calls. Returns NCCO: {connect→websocket /ws, audio/l16;rate=16000}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▪ Internal management _active_connectors: </a:t>
            </a:r>
            <a:r>
              <a:rPr sz="110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Tracks Connectors in a dict. Stops all old Connectors on new connections (leak prevention)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371600"/>
            <a:ext cx="521208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B7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444752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Handling on WebSocket setup (server.py lines 260–309)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182880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VonageFrameSerializer(vonage_sample_rate)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FastAPIWebsocketTransport (audio I/O ON, 10 ms × 2)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Calls bot(runner_args, transport) with WebSocketRunnerArguments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3931920"/>
            <a:ext cx="5212080" cy="2286000"/>
          </a:xfrm>
          <a:prstGeom prst="roundRect">
            <a:avLst/>
          </a:prstGeom>
          <a:solidFill>
            <a:srgbClr val="E6F0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4005072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Vonage integration helpers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38912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_create_vonage_client: video.api.vonage.com, timeout 30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_create_session_async: makes the sync SDK async with run_in_executor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_generate_client_token: role=publisher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73152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bot.py — Pipecat Pipeline in Detail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530352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2DC"/>
                </a:solidFill>
                <a:latin typeface="Yu Gothic"/>
                <a:ea typeface="Yu Gothic"/>
                <a:cs typeface="Yu Gothic"/>
              </a:rPr>
              <a:t>7-stage pipeline. The crux is a custom patch that segments with VAD and forwards LLM replies to TTS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3200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A9BAD"/>
                </a:solidFill>
                <a:latin typeface="Yu Gothic"/>
                <a:ea typeface="Yu Gothic"/>
                <a:cs typeface="Yu Gothic"/>
              </a:rPr>
              <a:t>Pipecat VoiceBot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A6C7D"/>
                </a:solidFill>
                <a:latin typeface="Yu Gothic"/>
                <a:ea typeface="Yu Gothic"/>
                <a:cs typeface="Yu Gothic"/>
              </a:rPr>
              <a:t>Based on pipecat-voicebot-localllm-edgetts-vonage-demo / bot.py, server.py, tts_edge.py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417320"/>
            <a:ext cx="1417320" cy="86868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463040"/>
            <a:ext cx="1325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Input</a:t>
            </a:r>
            <a:br/>
            <a:r>
              <a:rPr sz="10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Transport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810512" y="1737360"/>
            <a:ext cx="164592" cy="201168"/>
          </a:xfrm>
          <a:prstGeom prst="rightArrow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993392" y="1417320"/>
            <a:ext cx="1417320" cy="868680"/>
          </a:xfrm>
          <a:prstGeom prst="roundRect">
            <a:avLst/>
          </a:prstGeom>
          <a:solidFill>
            <a:srgbClr val="0E9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39112" y="1463040"/>
            <a:ext cx="1325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STT</a:t>
            </a:r>
            <a:br/>
            <a:r>
              <a:rPr sz="10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Whisper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438144" y="1737360"/>
            <a:ext cx="164592" cy="201168"/>
          </a:xfrm>
          <a:prstGeom prst="rightArrow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21024" y="1417320"/>
            <a:ext cx="1417320" cy="868680"/>
          </a:xfrm>
          <a:prstGeom prst="roundRect">
            <a:avLst/>
          </a:prstGeom>
          <a:solidFill>
            <a:srgbClr val="2B7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66744" y="1463040"/>
            <a:ext cx="1325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UserAgg</a:t>
            </a:r>
            <a:br/>
            <a:r>
              <a:rPr sz="10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+VAD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065776" y="1737360"/>
            <a:ext cx="164592" cy="201168"/>
          </a:xfrm>
          <a:prstGeom prst="rightArrow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248656" y="1417320"/>
            <a:ext cx="1417320" cy="868680"/>
          </a:xfrm>
          <a:prstGeom prst="roundRect">
            <a:avLst/>
          </a:prstGeom>
          <a:solidFill>
            <a:srgbClr val="0E9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94376" y="1463040"/>
            <a:ext cx="1325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LLM</a:t>
            </a:r>
            <a:br/>
            <a:r>
              <a:rPr sz="10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LM Studio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693408" y="1737360"/>
            <a:ext cx="164592" cy="201168"/>
          </a:xfrm>
          <a:prstGeom prst="rightArrow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876288" y="1417320"/>
            <a:ext cx="1417320" cy="868680"/>
          </a:xfrm>
          <a:prstGeom prst="roundRect">
            <a:avLst/>
          </a:prstGeom>
          <a:solidFill>
            <a:srgbClr val="2B7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22008" y="1463040"/>
            <a:ext cx="1325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AsstAgg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321040" y="1737360"/>
            <a:ext cx="164592" cy="201168"/>
          </a:xfrm>
          <a:prstGeom prst="rightArrow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503920" y="1417320"/>
            <a:ext cx="1417320" cy="868680"/>
          </a:xfrm>
          <a:prstGeom prst="roundRect">
            <a:avLst/>
          </a:prstGeom>
          <a:solidFill>
            <a:srgbClr val="0E9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49640" y="1463040"/>
            <a:ext cx="1325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TTS</a:t>
            </a:r>
            <a:br/>
            <a:r>
              <a:rPr sz="10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Edge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948672" y="1737360"/>
            <a:ext cx="164592" cy="201168"/>
          </a:xfrm>
          <a:prstGeom prst="rightArrow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131552" y="1417320"/>
            <a:ext cx="1417320" cy="86868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77272" y="1463040"/>
            <a:ext cx="1325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Output</a:t>
            </a:r>
            <a:br/>
            <a:r>
              <a:rPr sz="10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Transport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23774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transport.input() → stt → user_aggregator → llm → assistant_aggregator → tts → transport.output()  /  PipelineWorker (audio_in=variable, audio_out=16000, metrics enabled)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" y="2834640"/>
            <a:ext cx="365760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9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290779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STT + VAD Settings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3291840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Whisper LARGE_V3_TURBO_Q4, ja, no_speech 0.3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Silero VAD: conf 0.7 / start 0.3s / stop 0.8s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idle 2.0 s, turn_stop 5.0 s tune response timing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06240" y="2834640"/>
            <a:ext cx="365760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B7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43400" y="290779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LLM Settings (LM Studio)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43400" y="3291840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base_url :1234/v1, dummy api_key, variable model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system prompt: Japanese, conversational tone, no symbols/Markdown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Capped at 2–3 fairly detailed sentences to ease TTS load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46720" y="2834640"/>
            <a:ext cx="365760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83880" y="290779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Greeting logic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83880" y="3291840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_send_delayed_greeting() 10 s after connecting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Sends TextFrame + LLMFullResponseEndFrame to TTS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Checks connectivity with "Can you hear me?"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48463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B02020"/>
                </a:solidFill>
                <a:latin typeface="Yu Gothic"/>
                <a:ea typeface="Yu Gothic"/>
                <a:cs typeface="Yu Gothic"/>
              </a:rPr>
              <a:t>★ Monkey-patch: Pipecat 1.4's LLMAssistantAggregator does not pass text downstream, so _handle_text / _handle_llm_end are wrapped to push_frame(DOWNSTREAM) to TTS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521208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A6C7D"/>
                </a:solidFill>
                <a:latin typeface="Yu Gothic"/>
                <a:ea typeface="Yu Gothic"/>
                <a:cs typeface="Yu Gothic"/>
              </a:rPr>
              <a:t>on_client_connected: waiting log  /  on_client_disconnected: ends the session with worker.cancel()  /  runs via WorkerRunner(handle_sigint)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73152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tts_edge.py — Custom Edge TTS 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530352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2DC"/>
                </a:solidFill>
                <a:latin typeface="Yu Gothic"/>
                <a:ea typeface="Yu Gothic"/>
                <a:cs typeface="Yu Gothic"/>
              </a:rPr>
              <a:t>Extends TTSService. Fits Pipecat via buffer aggregation + MP3→PCM conversion + resampling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3200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A9BAD"/>
                </a:solidFill>
                <a:latin typeface="Yu Gothic"/>
                <a:ea typeface="Yu Gothic"/>
                <a:cs typeface="Yu Gothic"/>
              </a:rPr>
              <a:t>Pipecat VoiceBot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A6C7D"/>
                </a:solidFill>
                <a:latin typeface="Yu Gothic"/>
                <a:ea typeface="Yu Gothic"/>
                <a:cs typeface="Yu Gothic"/>
              </a:rPr>
              <a:t>Based on pipecat-voicebot-localllm-edgetts-vonage-demo / bot.py, server.py, tts_edge.py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417320"/>
            <a:ext cx="1600200" cy="86868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463040"/>
            <a:ext cx="1508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Text</a:t>
            </a:r>
            <a:br/>
            <a:r>
              <a:rPr sz="10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Aggregate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993392" y="1737360"/>
            <a:ext cx="164592" cy="201168"/>
          </a:xfrm>
          <a:prstGeom prst="rightArrow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194560" y="1417320"/>
            <a:ext cx="1600200" cy="868680"/>
          </a:xfrm>
          <a:prstGeom prst="round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40279" y="1463040"/>
            <a:ext cx="1508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edge-tts</a:t>
            </a:r>
            <a:br/>
            <a:r>
              <a:rPr sz="10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Fetch MP3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822191" y="1737360"/>
            <a:ext cx="164592" cy="201168"/>
          </a:xfrm>
          <a:prstGeom prst="rightArrow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023360" y="1417320"/>
            <a:ext cx="1600200" cy="868680"/>
          </a:xfrm>
          <a:prstGeom prst="roundRect">
            <a:avLst/>
          </a:prstGeom>
          <a:solidFill>
            <a:srgbClr val="0E9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69080" y="1463040"/>
            <a:ext cx="1508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PyAV</a:t>
            </a:r>
            <a:br/>
            <a:r>
              <a:rPr sz="10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Decode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650992" y="1737360"/>
            <a:ext cx="164592" cy="201168"/>
          </a:xfrm>
          <a:prstGeom prst="rightArrow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852160" y="1417320"/>
            <a:ext cx="1600200" cy="86868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97880" y="1463040"/>
            <a:ext cx="1508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numpy</a:t>
            </a:r>
            <a:br/>
            <a:r>
              <a:rPr sz="10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To mono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479792" y="1737360"/>
            <a:ext cx="164592" cy="201168"/>
          </a:xfrm>
          <a:prstGeom prst="rightArrow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680960" y="1417320"/>
            <a:ext cx="1600200" cy="868680"/>
          </a:xfrm>
          <a:prstGeom prst="roundRect">
            <a:avLst/>
          </a:prstGeom>
          <a:solidFill>
            <a:srgbClr val="0E9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26680" y="1463040"/>
            <a:ext cx="1508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Resample</a:t>
            </a:r>
            <a:br/>
            <a:r>
              <a:rPr sz="10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24k→16k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308592" y="1737360"/>
            <a:ext cx="164592" cy="201168"/>
          </a:xfrm>
          <a:prstGeom prst="rightArrow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509760" y="1417320"/>
            <a:ext cx="1600200" cy="86868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55480" y="1463040"/>
            <a:ext cx="1508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TTSFrame</a:t>
            </a:r>
            <a:br/>
            <a:r>
              <a:rPr sz="10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Send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2514600"/>
            <a:ext cx="5669280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2587752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BufferingTextAggregator (lines 21–43)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2971800"/>
            <a:ext cx="5394960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Accumulates fragmentary LLM text in _buffer and commits it as one sentence on flush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Hands natural sentence breaks to TTS via SENTENCE-type aggregation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Drops the buffer on interruption via handle_interruption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2514600"/>
            <a:ext cx="5486400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9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258775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run_tts (lines 71–118)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971800"/>
            <a:ext cx="5212080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Collects MP3 via Communicate(text, ja-JP-NanamiNeural).stream()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Mono via av.open(BytesIO) → decode → concatenate → mean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int16 PCM → _resampler.resample → TTSAudioRawFrame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46177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5A6C7D"/>
                </a:solidFill>
                <a:latin typeface="Yu Gothic"/>
                <a:ea typeface="Yu Gothic"/>
                <a:cs typeface="Yu Gothic"/>
              </a:rPr>
              <a:t>Settings: TTSSettings(model=edge-tts, voice=NanamiNeural, lang=ja), push_start/stop=True, stop_timeout 30 s, can_generate_metrics=True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50292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Key point: converting Edge (24 kHz) → Bot (16 kHz) is essential. On failure it only logs and never stops the pipeline.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73152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Audio Data Flow and Sample Rates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530352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2DC"/>
                </a:solidFill>
                <a:latin typeface="Yu Gothic"/>
                <a:ea typeface="Yu Gothic"/>
                <a:cs typeface="Yu Gothic"/>
              </a:rPr>
              <a:t>16 kHz throughout. Only Edge TTS converts 24 kHz → 16 kHz. 10 ms × 2 chunks for low latency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3200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A9BAD"/>
                </a:solidFill>
                <a:latin typeface="Yu Gothic"/>
                <a:ea typeface="Yu Gothic"/>
                <a:cs typeface="Yu Gothic"/>
              </a:rPr>
              <a:t>Pipecat VoiceBot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A6C7D"/>
                </a:solidFill>
                <a:latin typeface="Yu Gothic"/>
                <a:ea typeface="Yu Gothic"/>
                <a:cs typeface="Yu Gothic"/>
              </a:rPr>
              <a:t>Based on pipecat-voicebot-localllm-edgetts-vonage-demo / bot.py, server.py, tts_edge.py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3520440" cy="2286000"/>
          </a:xfrm>
          <a:prstGeom prst="roundRect">
            <a:avLst/>
          </a:prstGeom>
          <a:solidFill>
            <a:srgbClr val="E6F0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444752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Input path (mic → STT)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828800"/>
            <a:ext cx="32461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Vonage: audio/l16;rate=16000 PCM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Converts to frames with VonageFrameSerializer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Whisper MLX transcribes into Japanese text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371600"/>
            <a:ext cx="352044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B7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444752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Inference path (text)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828800"/>
            <a:ext cx="32461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Confirms speech segments with VAD before sending to the LLM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LM Studio generates 2–3 Japanese sentences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Assistant aggregation → forwarded to TTS via the patch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371600"/>
            <a:ext cx="3520440" cy="2286000"/>
          </a:xfrm>
          <a:prstGeom prst="roundRect">
            <a:avLst/>
          </a:prstGeom>
          <a:solidFill>
            <a:srgbClr val="E0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80" y="1444752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Output path (TTS → speaker)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80" y="1828800"/>
            <a:ext cx="32461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Edge MP3 (24 kHz) → PCM 16-bit mono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Resampler converts to 16000 Hz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transport.output → Connector → to the remote party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8404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Transport settings: audio_in_enabled=True, audio_out_enabled=True, audio_out_10ms_chunks=2 (20 ms chunks), AUDIO_OUT=16000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297680"/>
            <a:ext cx="11064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▪ Env var VONAGE_AUDIO_RATE: </a:t>
            </a:r>
            <a:r>
              <a:rPr sz="110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Defaults to 16000. Referenced in both bot() and server.py to keep send/receive aligned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▪ Why 16 kHz: </a:t>
            </a:r>
            <a:r>
              <a:rPr sz="110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Highly compatible with Whisper, VAD, and phone networks (≈ G.711), with a good CPU/quality balance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▪ Latency factors: </a:t>
            </a:r>
            <a:r>
              <a:rPr sz="110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VAD stop 0.8 s + turn_stop 5 s + LLM generation + Edge TTS MP3 retrieval dominate. Chunked sending reduces perceived latency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73152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Sequence: Video Demo Mode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530352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2DC"/>
                </a:solidFill>
                <a:latin typeface="Yu Gothic"/>
                <a:ea typeface="Yu Gothic"/>
                <a:cs typeface="Yu Gothic"/>
              </a:rPr>
              <a:t>6 steps that prepare Session, Token, and Connector with a single POST /demo/connect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3200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A9BAD"/>
                </a:solidFill>
                <a:latin typeface="Yu Gothic"/>
                <a:ea typeface="Yu Gothic"/>
                <a:cs typeface="Yu Gothic"/>
              </a:rPr>
              <a:t>Pipecat VoiceBot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A6C7D"/>
                </a:solidFill>
                <a:latin typeface="Yu Gothic"/>
                <a:ea typeface="Yu Gothic"/>
                <a:cs typeface="Yu Gothic"/>
              </a:rPr>
              <a:t>Based on pipecat-voicebot-localllm-edgetts-vonage-demo / bot.py, server.py, tts_edge.py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1371600"/>
            <a:ext cx="502920" cy="502920"/>
          </a:xfrm>
          <a:prstGeom prst="ellipse">
            <a:avLst/>
          </a:prstGeom>
          <a:solidFill>
            <a:srgbClr val="2B7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41732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965960"/>
            <a:ext cx="155448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B7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2057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2B7DE5"/>
                </a:solidFill>
                <a:latin typeface="Yu Gothic"/>
                <a:ea typeface="Yu Gothic"/>
                <a:cs typeface="Yu Gothic"/>
              </a:rPr>
              <a:t>1. Browser display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246888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Open the tunnel URL</a:t>
            </a:r>
            <a:br/>
            <a:r>
              <a:rPr sz="100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load index.html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1901952" y="2560320"/>
            <a:ext cx="292608" cy="228600"/>
          </a:xfrm>
          <a:prstGeom prst="rightArrow">
            <a:avLst/>
          </a:prstGeom>
          <a:solidFill>
            <a:srgbClr val="5A6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743200" y="1371600"/>
            <a:ext cx="502920" cy="502920"/>
          </a:xfrm>
          <a:prstGeom prst="ellipse">
            <a:avLst/>
          </a:prstGeom>
          <a:solidFill>
            <a:srgbClr val="0E9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0" y="141732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40280" y="1965960"/>
            <a:ext cx="155448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9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31720" y="2057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0E9B8B"/>
                </a:solidFill>
                <a:latin typeface="Yu Gothic"/>
                <a:ea typeface="Yu Gothic"/>
                <a:cs typeface="Yu Gothic"/>
              </a:rPr>
              <a:t>2. Connection request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246888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POST /demo/connect</a:t>
            </a:r>
            <a:br/>
            <a:r>
              <a:rPr sz="100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fetch from OT.js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3822191" y="2560320"/>
            <a:ext cx="292608" cy="228600"/>
          </a:xfrm>
          <a:prstGeom prst="rightArrow">
            <a:avLst/>
          </a:prstGeom>
          <a:solidFill>
            <a:srgbClr val="5A6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663440" y="1371600"/>
            <a:ext cx="502920" cy="502920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63440" y="141732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60520" y="1965960"/>
            <a:ext cx="155448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51959" y="2057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3. Create Session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51959" y="246888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vng.video.create_</a:t>
            </a:r>
            <a:br/>
            <a:r>
              <a:rPr sz="100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session()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5742431" y="2560320"/>
            <a:ext cx="292608" cy="228600"/>
          </a:xfrm>
          <a:prstGeom prst="rightArrow">
            <a:avLst/>
          </a:prstGeom>
          <a:solidFill>
            <a:srgbClr val="5A6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583680" y="1371600"/>
            <a:ext cx="502920" cy="502920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141732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80760" y="1965960"/>
            <a:ext cx="155448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72200" y="2057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4. Start Connector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246888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start_audio_connector</a:t>
            </a:r>
            <a:br/>
            <a:r>
              <a:rPr sz="100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→ wss://…/ws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7662672" y="2560320"/>
            <a:ext cx="292608" cy="228600"/>
          </a:xfrm>
          <a:prstGeom prst="rightArrow">
            <a:avLst/>
          </a:prstGeom>
          <a:solidFill>
            <a:srgbClr val="5A6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503920" y="1371600"/>
            <a:ext cx="502920" cy="502920"/>
          </a:xfrm>
          <a:prstGeom prst="ellipse">
            <a:avLst/>
          </a:prstGeom>
          <a:solidFill>
            <a:srgbClr val="2B7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03920" y="141732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01000" y="1965960"/>
            <a:ext cx="155448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B7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92440" y="2057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2B7DE5"/>
                </a:solidFill>
                <a:latin typeface="Yu Gothic"/>
                <a:ea typeface="Yu Gothic"/>
                <a:cs typeface="Yu Gothic"/>
              </a:rPr>
              <a:t>5. Join Session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92440" y="246888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OT.initSession</a:t>
            </a:r>
            <a:br/>
            <a:r>
              <a:rPr sz="100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connect(token)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9582912" y="2560320"/>
            <a:ext cx="292608" cy="228600"/>
          </a:xfrm>
          <a:prstGeom prst="rightArrow">
            <a:avLst/>
          </a:prstGeom>
          <a:solidFill>
            <a:srgbClr val="5A6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424160" y="137160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424160" y="141732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6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921240" y="1965960"/>
            <a:ext cx="155448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12680" y="2057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6. Audio round trip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12680" y="246888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publish / subscribe</a:t>
            </a:r>
            <a:br/>
            <a:r>
              <a:rPr sz="100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STT→LLM→TTS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36576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Audio path: browser ⇄ Vonage Cloud ⇄ Audio Connector ⇄ /ws ⇄ Pipecat Bot  /  the bot greets and checks connectivity after 10 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4160520"/>
            <a:ext cx="55778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B7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4360" y="423367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Frontend implementation (index.html lines 62–131)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4360" y="461772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fetch('/demo/connect')→{application_id, session_id, token}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Subscribes audioOnly on session.on('streamCreated')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Publishes audio only via OT.initPublisher(videoSource:null)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263640" y="4160520"/>
            <a:ext cx="539496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9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0" y="423367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Server implementation (server.py lines 225–257)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0" y="461772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Auto-generates wss://host/ws from the Host header when WS_URI is unset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Stops all old Connectors before starting a new one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Uses token (returned with application_id) for the OT connection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73152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Sequence: Phone Mode (Voice API)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530352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2DC"/>
                </a:solidFill>
                <a:latin typeface="Yu Gothic"/>
                <a:ea typeface="Yu Gothic"/>
                <a:cs typeface="Yu Gothic"/>
              </a:rPr>
              <a:t>The Answer Webhook returns an NCCO that bridges the call to the WebSocket 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3200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A9BAD"/>
                </a:solidFill>
                <a:latin typeface="Yu Gothic"/>
                <a:ea typeface="Yu Gothic"/>
                <a:cs typeface="Yu Gothic"/>
              </a:rPr>
              <a:t>Pipecat VoiceBot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A6C7D"/>
                </a:solidFill>
                <a:latin typeface="Yu Gothic"/>
                <a:ea typeface="Yu Gothic"/>
                <a:cs typeface="Yu Gothic"/>
              </a:rPr>
              <a:t>Based on pipecat-voicebot-localllm-edgetts-vonage-demo / bot.py, server.py, tts_edge.py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1828800" cy="1554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B7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002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B7DE5"/>
                </a:solidFill>
                <a:latin typeface="Yu Gothic"/>
                <a:ea typeface="Yu Gothic"/>
                <a:cs typeface="Yu Gothic"/>
              </a:rPr>
              <a:t>1. Inbound call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057400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Dial a Vonage</a:t>
            </a:r>
            <a:br/>
            <a:r>
              <a:rPr sz="110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number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514600" y="2103120"/>
            <a:ext cx="320040" cy="256032"/>
          </a:xfrm>
          <a:prstGeom prst="rightArrow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880360" y="1463040"/>
            <a:ext cx="1828800" cy="1554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9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17520" y="16002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E9B8B"/>
                </a:solidFill>
                <a:latin typeface="Yu Gothic"/>
                <a:ea typeface="Yu Gothic"/>
                <a:cs typeface="Yu Gothic"/>
              </a:rPr>
              <a:t>2. Webhook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057400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GET /voice/webhook</a:t>
            </a:r>
            <a:br/>
            <a:r>
              <a:rPr sz="110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Log call info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754880" y="2103120"/>
            <a:ext cx="320040" cy="256032"/>
          </a:xfrm>
          <a:prstGeom prst="rightArrow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120640" y="1463040"/>
            <a:ext cx="1828800" cy="1554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57800" y="16002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3. NCCO response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7800" y="2057400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connect→websocket</a:t>
            </a:r>
            <a:br/>
            <a:r>
              <a:rPr sz="110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pointing to /ws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995160" y="2103120"/>
            <a:ext cx="320040" cy="256032"/>
          </a:xfrm>
          <a:prstGeom prst="rightArrow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60920" y="1463040"/>
            <a:ext cx="1828800" cy="1554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0" y="16002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4. WS connection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0" y="2057400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Vonage→/ws</a:t>
            </a:r>
            <a:br/>
            <a:r>
              <a:rPr sz="110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Bidirectional PCM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235440" y="2103120"/>
            <a:ext cx="320040" cy="256032"/>
          </a:xfrm>
          <a:prstGeom prst="rightArrow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601200" y="1463040"/>
            <a:ext cx="1828800" cy="1554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38360" y="16002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5. Conversation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38360" y="2057400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Pipecat boots</a:t>
            </a:r>
            <a:br/>
            <a:r>
              <a:rPr sz="110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greet → respond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291840"/>
            <a:ext cx="566928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3364992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NCCO contents (server.py lines 151–162)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3749039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[{"action":"connect","endpoint":[{"type":"websocket","uri":"wss://…/ws","content-type":"audio/l16;rate=16000"}]}]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55080" y="3291840"/>
            <a:ext cx="5349240" cy="1463040"/>
          </a:xfrm>
          <a:prstGeom prst="roundRect">
            <a:avLst/>
          </a:prstGeom>
          <a:solidFill>
            <a:srgbClr val="FD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3364992"/>
            <a:ext cx="5074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Setup steps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3749039"/>
            <a:ext cx="5074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Set https://&lt;tunnel&gt;/voice/webhook as the Answer URL: Vonage Dashboard → Voice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The POST variant of /voice/webhook delegates to the same handler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Scheme auto-switches: non-localhost → wss, localhost → ws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8920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Key point: phone and browser both converge on the same /ws pipeline, enabling both paths with no bot-side changes.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3492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5A6C7D"/>
                </a:solidFill>
                <a:latin typeface="Yu Gothic"/>
                <a:ea typeface="Yu Gothic"/>
                <a:cs typeface="Yu Gothic"/>
              </a:rPr>
              <a:t>The WS URI is built from the Host header, so tunnel URL changes need no redeploy. Explicit content-type keeps bidirectional PCM stable.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73152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Startup &amp; Operations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530352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2DC"/>
                </a:solidFill>
                <a:latin typeface="Yu Gothic"/>
                <a:ea typeface="Yu Gothic"/>
                <a:cs typeface="Yu Gothic"/>
              </a:rPr>
              <a:t>bash start.sh launches the tunnel and server at once. LM Studio must be started beforehand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3200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A9BAD"/>
                </a:solidFill>
                <a:latin typeface="Yu Gothic"/>
                <a:ea typeface="Yu Gothic"/>
                <a:cs typeface="Yu Gothic"/>
              </a:rPr>
              <a:t>Pipecat VoiceBot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A6C7D"/>
                </a:solidFill>
                <a:latin typeface="Yu Gothic"/>
                <a:ea typeface="Yu Gothic"/>
                <a:cs typeface="Yu Gothic"/>
              </a:rPr>
              <a:t>Based on pipecat-voicebot-localllm-edgetts-vonage-demo / bot.py, server.py, tts_edge.py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463040"/>
            <a:ext cx="210312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00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Prerequisites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0574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Load LLM + Whisper in LM Studio</a:t>
            </a:r>
            <a:br/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Listen on localhost:1234 and set up .env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496312" y="2194560"/>
            <a:ext cx="164592" cy="228600"/>
          </a:xfrm>
          <a:prstGeom prst="rightArrow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697479" y="1463040"/>
            <a:ext cx="210312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B7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39" y="1600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B7DE5"/>
                </a:solidFill>
                <a:latin typeface="Yu Gothic"/>
                <a:ea typeface="Yu Gothic"/>
                <a:cs typeface="Yu Gothic"/>
              </a:rPr>
              <a:t>Tunnel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39" y="20574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cloudflared tunnel --url :8005</a:t>
            </a:r>
            <a:br/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Extract the trycloudflare URL from logs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828031" y="2194560"/>
            <a:ext cx="164592" cy="228600"/>
          </a:xfrm>
          <a:prstGeom prst="rightArrow">
            <a:avLst/>
          </a:prstGeom>
          <a:solidFill>
            <a:srgbClr val="2B7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29200" y="1463040"/>
            <a:ext cx="210312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9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66360" y="1600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E9B8B"/>
                </a:solidFill>
                <a:latin typeface="Yu Gothic"/>
                <a:ea typeface="Yu Gothic"/>
                <a:cs typeface="Yu Gothic"/>
              </a:rPr>
              <a:t>Server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6360" y="20574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Free :8005 with lsof → uv run server.py</a:t>
            </a:r>
            <a:br/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Poll /health 30 times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159752" y="2194560"/>
            <a:ext cx="164592" cy="228600"/>
          </a:xfrm>
          <a:prstGeom prst="rightArrow">
            <a:avLst/>
          </a:prstGeom>
          <a:solidFill>
            <a:srgbClr val="0E9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60919" y="1463040"/>
            <a:ext cx="210312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79" y="1600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Connect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20574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Video: open the tunnel URL and connect</a:t>
            </a:r>
            <a:br/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Phone: set the webhook at the Answer URL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491472" y="2194560"/>
            <a:ext cx="164592" cy="228600"/>
          </a:xfrm>
          <a:prstGeom prst="rightArrow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692640" y="1463040"/>
            <a:ext cx="210312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A6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29800" y="1600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A6C7D"/>
                </a:solidFill>
                <a:latin typeface="Yu Gothic"/>
                <a:ea typeface="Yu Gothic"/>
                <a:cs typeface="Yu Gothic"/>
              </a:rPr>
              <a:t>Stop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29800" y="20574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pkill -f server.py</a:t>
            </a:r>
            <a:br/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pkill -f cloudflared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3566160"/>
            <a:ext cx="11064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▪ Key .env variables: </a:t>
            </a:r>
            <a:r>
              <a:rPr sz="110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LM_STUDIO_BASE_URL, LM_MODEL, STT_LANGUAGE=ja, VONAGE_APPLICATION_ID, VONAGE_PRIVATE_KEY, VONAGE_AUDIO_RATE=16000, WS_URI (optional)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▪ First-run notes: </a:t>
            </a:r>
            <a:r>
              <a:rPr sz="110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Model preload takes ~60 s. Check server.log / tunnel.log for the URL and errors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▪ Reproduction steps: </a:t>
            </a:r>
            <a:r>
              <a:rPr sz="110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uv sync → cp .env.example .env → start LM Studio → bash start.sh → open the tunnel URL in a browser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73152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Tips and Pitfalls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530352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2DC"/>
                </a:solidFill>
                <a:latin typeface="Yu Gothic"/>
                <a:ea typeface="Yu Gothic"/>
                <a:cs typeface="Yu Gothic"/>
              </a:rPr>
              <a:t>Four measures that bridge Pipecat 1.4 spec gaps and keep long demos stable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3200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A9BAD"/>
                </a:solidFill>
                <a:latin typeface="Yu Gothic"/>
                <a:ea typeface="Yu Gothic"/>
                <a:cs typeface="Yu Gothic"/>
              </a:rPr>
              <a:t>Pipecat VoiceBot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A6C7D"/>
                </a:solidFill>
                <a:latin typeface="Yu Gothic"/>
                <a:ea typeface="Yu Gothic"/>
                <a:cs typeface="Yu Gothic"/>
              </a:rPr>
              <a:t>Based on pipecat-voicebot-localllm-edgetts-vonage-demo / bot.py, server.py, tts_edge.py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5577840" cy="2423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44475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① Fixing the LLM→TTS gap (bot.py lines 34–48)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828800"/>
            <a:ext cx="530352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Pipecat 1.4's _handle_text only updates context and never sends downstream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Wraps _handle_text/_handle_llm_end and forwards to DOWNSTREAM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Without this, TTS starves and output stays silent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371600"/>
            <a:ext cx="5394960" cy="2423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B7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44475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② Recreating the Transport per connection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828800"/>
            <a:ext cx="512064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Clears stale buffers and leftover state (server.py lines 265–282)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Creates a new serializer + transport on every /ws setup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Reliably calls transport.cleanup() in finally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977639"/>
            <a:ext cx="5577840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4050791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③ Preventing Connector leaks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434840"/>
            <a:ext cx="5303520" cy="1783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Tracks running Connectors via the _active_connectors dict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Stops all old sessions (DELETE connect) before starting new ones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Degrades to a warning on stop failure and keeps the demo going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977639"/>
            <a:ext cx="5394960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9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4050791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④ Handling disconnects and silence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434840"/>
            <a:ext cx="5120640" cy="1783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Keeps WS alive by sending keepalive text every 10 s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VAD conf 0.7 / stop 0.8 s / idle 2 s suppress false detection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TTS exceptions are only logged; the greeting confirms connectivity early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73152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Security, Operational Issues, and Improvement Ideas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530352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2DC"/>
                </a:solidFill>
                <a:latin typeface="Yu Gothic"/>
                <a:ea typeface="Yu Gothic"/>
                <a:cs typeface="Yu Gothic"/>
              </a:rPr>
              <a:t>Checklist for moving from demo to 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3200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A9BAD"/>
                </a:solidFill>
                <a:latin typeface="Yu Gothic"/>
                <a:ea typeface="Yu Gothic"/>
                <a:cs typeface="Yu Gothic"/>
              </a:rPr>
              <a:t>Pipecat VoiceBot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A6C7D"/>
                </a:solidFill>
                <a:latin typeface="Yu Gothic"/>
                <a:ea typeface="Yu Gothic"/>
                <a:cs typeface="Yu Gothic"/>
              </a:rPr>
              <a:t>Based on pipecat-voicebot-localllm-edgetts-vonage-demo / bot.py, server.py, tts_edge.py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352044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444752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Current risks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828800"/>
            <a:ext cx="32461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CORS allow_origins=[*] (demo only)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private.key sits in the repo root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Secrets stored in plaintext in .env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371600"/>
            <a:ext cx="352044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444752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Operational weaknesses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828800"/>
            <a:ext cx="32461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Audio Connector stop is best-effort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No support for multiple connections / concurrent calls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Metrics are enabled but not visualized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371600"/>
            <a:ext cx="352044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9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80" y="1444752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Improvement ideas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80" y="1828800"/>
            <a:ext cx="32461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JWT validation, Origin restriction, keys managed in Vault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Reconnect, retry, and a queue for concurrent connections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Dashboard for response latency and STT/TTS failure rates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8404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Extension ideas: RAG integration, function calling (reservations, FAQ search), speaker identification, persistent conversation history, multi-language switching (tied to STT_LANGUAGE / TTS voice)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343400"/>
            <a:ext cx="11064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▪ Near-term TODO: </a:t>
            </a:r>
            <a:r>
              <a:rPr sz="110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Restrict CORS, confirm private.key is git-ignored, set WS_URI explicitly, add log rotation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▪ Mid/long term: </a:t>
            </a:r>
            <a:r>
              <a:rPr sz="110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Eliminate the Monkey-patch by tracking Pipecat versions, abstract TTS switching beyond Edge, add E2E tests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15 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Three key points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783080"/>
            <a:ext cx="457200" cy="457200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0136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783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1. One pipeline, two modes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1945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C8D2DC"/>
                </a:solidFill>
                <a:latin typeface="Yu Gothic"/>
                <a:ea typeface="Yu Gothic"/>
                <a:cs typeface="Yu Gothic"/>
              </a:rPr>
              <a:t>Both phone (Voice API) and browser (Video API) converge on /ws. server.py absorbs connection differences while bot.py focuses purely on conversation.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200400"/>
            <a:ext cx="457200" cy="457200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21868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200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2. Fully local Japanese conversation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6118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C8D2DC"/>
                </a:solidFill>
                <a:latin typeface="Yu Gothic"/>
                <a:ea typeface="Yu Gothic"/>
                <a:cs typeface="Yu Gothic"/>
              </a:rPr>
              <a:t>Every stage — Whisper-MLX (STT) → LM Studio (LLM) → Edge TTS — is optimized for Japanese. Unified 16 kHz and VAD tuning deliver practical response speed.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4617720"/>
            <a:ext cx="457200" cy="457200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636007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617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3. Stability is the heart of the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5029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C8D2DC"/>
                </a:solidFill>
                <a:latin typeface="Yu Gothic"/>
                <a:ea typeface="Yu Gothic"/>
                <a:cs typeface="Yu Gothic"/>
              </a:rPr>
              <a:t>Monkey-patch forwarding, Transport recreation, Connector cleanup, and keepalive prevent silence, leaks, and drops.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Next steps: productionize CORS/key management → measure and visualize response latency → support business tasks with RAG / function calling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